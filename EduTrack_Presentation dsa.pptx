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81C2844-0E8F-B918-2AA4-0B3F622511EE}">
          <p14:sldIdLst>
            <p14:sldId id="256"/>
          </p14:sldIdLst>
        </p14:section>
        <p14:section name="Problem and Solution" id="{452623F3-BD2D-A9E8-FE7D-CF2A80290AC4}">
          <p14:sldIdLst>
            <p14:sldId id="257"/>
            <p14:sldId id="258"/>
            <p14:sldId id="259"/>
            <p14:sldId id="260"/>
          </p14:sldIdLst>
        </p14:section>
        <p14:section name="Design" id="{41FDFDCA-B075-77F5-2A63-9F439A429F6E}">
          <p14:sldIdLst>
            <p14:sldId id="261"/>
            <p14:sldId id="262"/>
          </p14:sldIdLst>
        </p14:section>
        <p14:section name="Algorithms" id="{1C73B4B9-9DD3-4AF0-F911-CC2A9BD35735}">
          <p14:sldIdLst>
            <p14:sldId id="263"/>
            <p14:sldId id="264"/>
            <p14:sldId id="265"/>
            <p14:sldId id="266"/>
            <p14:sldId id="267"/>
          </p14:sldIdLst>
        </p14:section>
        <p14:section name="Closing" id="{F806D146-4226-3063-D8F1-DEF9E9EBBCC1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1051560"/>
            <a:ext cx="8046720" cy="13716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type="body" idx="102" hasCustomPrompt="1"/>
          </p:nvPr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</a:rPr>
              <a:t>EduTrack  |  Intelligent University Academic Platform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3" name="Text 1"/>
          <p:cNvSpPr/>
          <p:nvPr>
            <p:ph type="title" idx="101" hasCustomPrompt="1"/>
          </p:nvPr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type="body" idx="102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"/>
          <p:cNvSpPr/>
          <p:nvPr>
            <p:ph type="title" idx="101" hasCustomPrompt="1"/>
          </p:nvPr>
        </p:nvSpPr>
        <p:spPr>
          <a:xfrm>
            <a:off x="548640" y="105156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EduTrack: Intelligent University Academic Platform</a:t>
            </a:r>
            <a:endParaRPr lang="en-US" sz="3800" dirty="0"/>
          </a:p>
        </p:txBody>
      </p:sp>
      <p:sp>
        <p:nvSpPr>
          <p:cNvPr id="15" name="Text 1"/>
          <p:cNvSpPr/>
          <p:nvPr>
            <p:ph type="body" idx="102" hasCustomPrompt="1"/>
          </p:nvPr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Advanced data structures and algorithms for fast, scalable academic information systems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Advanced Data Structures &amp; Algorithms  |  PBL Project Review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Hemanth Reddy (2500030702)   |   Ram Naresh (2500032071)   |   Ramya (2500030673) | Yogitha(2500030904)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Intro card 1"/>
          <p:cNvSpPr/>
          <p:nvPr/>
        </p:nvSpPr>
        <p:spPr>
          <a:xfrm>
            <a:off x="457200" y="1143000"/>
            <a:ext cx="2651760" cy="278892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4" name="Icon circle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EduTrack?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university academic platform that manages student and faculty records, courses, assignments, exams, learning resources and schedules.</a:t>
            </a:r>
            <a:endParaRPr lang="en-US" sz="1400" dirty="0"/>
          </a:p>
        </p:txBody>
      </p:sp>
      <p:sp>
        <p:nvSpPr>
          <p:cNvPr id="8" name="Intro card 2"/>
          <p:cNvSpPr/>
          <p:nvPr/>
        </p:nvSpPr>
        <p:spPr>
          <a:xfrm>
            <a:off x="3246120" y="1143000"/>
            <a:ext cx="2651760" cy="278892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9" name="Icon circle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0" name="Image 1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data does it handle?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3774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Records, documents, timetables and a continuous stream of student and academic activity that keeps growing every day.</a:t>
            </a:r>
            <a:endParaRPr lang="en-US" sz="1400" dirty="0"/>
          </a:p>
        </p:txBody>
      </p:sp>
      <p:sp>
        <p:nvSpPr>
          <p:cNvPr id="13" name="Intro card 3"/>
          <p:cNvSpPr/>
          <p:nvPr/>
        </p:nvSpPr>
        <p:spPr>
          <a:xfrm>
            <a:off x="6035040" y="1143000"/>
            <a:ext cx="2651760" cy="278892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14" name="Icon circle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chemeClr val="accent3"/>
          </a:solidFill>
        </p:spPr>
      </p:sp>
      <p:pic>
        <p:nvPicPr>
          <p:cNvPr id="15" name="Image 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659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advanced DSA?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3774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Fast retrieval, document indexing, record comparison, resource allocation and analytics each need the right algorithm.</a:t>
            </a:r>
            <a:endParaRPr lang="en-US" sz="1400" dirty="0"/>
          </a:p>
        </p:txBody>
      </p:sp>
      <p:sp>
        <p:nvSpPr>
          <p:cNvPr id="18" name="Banner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</p:spPr>
      </p:sp>
      <p:sp>
        <p:nvSpPr>
          <p:cNvPr id="19" name="Banner text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EduTrack = academic data platform + six algorithm modules (M1 to M6), one per course outcome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5661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 university holds thousands of records, documents and schedules. Searching, matching and allocating them with simple methods gets slow and error-prone as data grows.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6324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Strings · Suffix · DP · Flow · NP · Parallel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Level: Advanced DSA project</a:t>
            </a:r>
            <a:endParaRPr lang="en-US" sz="1400" dirty="0"/>
          </a:p>
        </p:txBody>
      </p:sp>
      <p:sp>
        <p:nvSpPr>
          <p:cNvPr id="6" name="Problem card 1"/>
          <p:cNvSpPr/>
          <p:nvPr/>
        </p:nvSpPr>
        <p:spPr>
          <a:xfrm>
            <a:off x="4297680" y="1143000"/>
            <a:ext cx="438912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</p:spPr>
      </p:sp>
      <p:sp>
        <p:nvSpPr>
          <p:cNvPr id="7" name="Badge 1"/>
          <p:cNvSpPr/>
          <p:nvPr/>
        </p:nvSpPr>
        <p:spPr>
          <a:xfrm>
            <a:off x="4434840" y="1353312"/>
            <a:ext cx="420624" cy="42062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8" name="Badge label 1"/>
          <p:cNvSpPr txBox="1"/>
          <p:nvPr/>
        </p:nvSpPr>
        <p:spPr>
          <a:xfrm>
            <a:off x="4434840" y="13533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21615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Linear scans and exact match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472184"/>
            <a:ext cx="35204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search reads all the text, and one typo in a query finds nothing.</a:t>
            </a:r>
            <a:endParaRPr lang="en-US" sz="1400" dirty="0"/>
          </a:p>
        </p:txBody>
      </p:sp>
      <p:sp>
        <p:nvSpPr>
          <p:cNvPr id="11" name="Problem card 2"/>
          <p:cNvSpPr/>
          <p:nvPr/>
        </p:nvSpPr>
        <p:spPr>
          <a:xfrm>
            <a:off x="4297680" y="2103120"/>
            <a:ext cx="438912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</p:spPr>
      </p:sp>
      <p:sp>
        <p:nvSpPr>
          <p:cNvPr id="12" name="Badge 2"/>
          <p:cNvSpPr/>
          <p:nvPr/>
        </p:nvSpPr>
        <p:spPr>
          <a:xfrm>
            <a:off x="4434840" y="2313432"/>
            <a:ext cx="420624" cy="420624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3" name="Badge label 2"/>
          <p:cNvSpPr txBox="1"/>
          <p:nvPr/>
        </p:nvSpPr>
        <p:spPr>
          <a:xfrm>
            <a:off x="4434840" y="231343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17627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Manual or greedy allocation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32304"/>
            <a:ext cx="35204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Faculty, rooms and exam slots clash, with no guarantee of a feasible plan.</a:t>
            </a:r>
            <a:endParaRPr lang="en-US" sz="1400" dirty="0"/>
          </a:p>
        </p:txBody>
      </p:sp>
      <p:sp>
        <p:nvSpPr>
          <p:cNvPr id="16" name="Problem card 3"/>
          <p:cNvSpPr/>
          <p:nvPr/>
        </p:nvSpPr>
        <p:spPr>
          <a:xfrm>
            <a:off x="4297680" y="3063240"/>
            <a:ext cx="438912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</p:spPr>
      </p:sp>
      <p:sp>
        <p:nvSpPr>
          <p:cNvPr id="17" name="Badge 3"/>
          <p:cNvSpPr/>
          <p:nvPr/>
        </p:nvSpPr>
        <p:spPr>
          <a:xfrm>
            <a:off x="4434840" y="3273552"/>
            <a:ext cx="420624" cy="420624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18" name="Badge label 3"/>
          <p:cNvSpPr txBox="1"/>
          <p:nvPr/>
        </p:nvSpPr>
        <p:spPr>
          <a:xfrm>
            <a:off x="4434840" y="32735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136392"/>
            <a:ext cx="352044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One-by-one analytics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3392424"/>
            <a:ext cx="35204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Reports over millions of activity records are slow and use too much memory.</a:t>
            </a:r>
            <a:endParaRPr lang="en-US" sz="1400" dirty="0"/>
          </a:p>
        </p:txBody>
      </p:sp>
      <p:sp>
        <p:nvSpPr>
          <p:cNvPr id="21" name="Banner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</p:spPr>
      </p:sp>
      <p:sp>
        <p:nvSpPr>
          <p:cNvPr id="22" name="Banner text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Question: how do we make academic search, allocation and analytics fast, correct and scalable?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Our Solution: EduTrack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platform that pairs every academic task with a purpose-built algorithm, grouped into six modules.</a:t>
            </a:r>
            <a:endParaRPr lang="en-US" sz="1400" dirty="0"/>
          </a:p>
        </p:txBody>
      </p:sp>
      <p:sp>
        <p:nvSpPr>
          <p:cNvPr id="4" name="Solution card 1"/>
          <p:cNvSpPr/>
          <p:nvPr/>
        </p:nvSpPr>
        <p:spPr>
          <a:xfrm>
            <a:off x="457200" y="1463040"/>
            <a:ext cx="1956816" cy="2560320"/>
          </a:xfrm>
          <a:prstGeom prst="roundRect">
            <a:avLst>
              <a:gd name="adj" fmla="val 3738"/>
            </a:avLst>
          </a:prstGeom>
          <a:solidFill>
            <a:schemeClr val="bg2"/>
          </a:solidFill>
        </p:spPr>
      </p:sp>
      <p:sp>
        <p:nvSpPr>
          <p:cNvPr id="5" name="Icon circle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pic>
        <p:nvPicPr>
          <p:cNvPr id="6" name="Image 0" descr="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7145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488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Fast retrieval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97480"/>
            <a:ext cx="1691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KMP, Rabin-Karp and Aho-Corasick find courses and keywords. Edit distance fixes typos.</a:t>
            </a:r>
            <a:endParaRPr lang="en-US" sz="1400" dirty="0"/>
          </a:p>
        </p:txBody>
      </p:sp>
      <p:sp>
        <p:nvSpPr>
          <p:cNvPr id="9" name="Solution card 2"/>
          <p:cNvSpPr/>
          <p:nvPr/>
        </p:nvSpPr>
        <p:spPr>
          <a:xfrm>
            <a:off x="2551176" y="1463040"/>
            <a:ext cx="1956816" cy="2560320"/>
          </a:xfrm>
          <a:prstGeom prst="roundRect">
            <a:avLst>
              <a:gd name="adj" fmla="val 3738"/>
            </a:avLst>
          </a:prstGeom>
          <a:solidFill>
            <a:schemeClr val="bg2"/>
          </a:solidFill>
        </p:spPr>
      </p:sp>
      <p:sp>
        <p:nvSpPr>
          <p:cNvPr id="10" name="Icon circle"/>
          <p:cNvSpPr/>
          <p:nvPr/>
        </p:nvSpPr>
        <p:spPr>
          <a:xfrm>
            <a:off x="2688336" y="1600200"/>
            <a:ext cx="457200" cy="457200"/>
          </a:xfrm>
          <a:prstGeom prst="ellipse">
            <a:avLst/>
          </a:prstGeom>
          <a:solidFill>
            <a:schemeClr val="accent2"/>
          </a:solidFill>
        </p:spPr>
      </p:sp>
      <p:pic>
        <p:nvPicPr>
          <p:cNvPr id="11" name="Image 1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36" y="17145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88336" y="21488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Document indexing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88336" y="2697480"/>
            <a:ext cx="1691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Suffix arrays, SA-IS and LCP index notes and spot repeated phrases.</a:t>
            </a:r>
            <a:endParaRPr lang="en-US" sz="1400" dirty="0"/>
          </a:p>
        </p:txBody>
      </p:sp>
      <p:sp>
        <p:nvSpPr>
          <p:cNvPr id="14" name="Solution card 3"/>
          <p:cNvSpPr/>
          <p:nvPr/>
        </p:nvSpPr>
        <p:spPr>
          <a:xfrm>
            <a:off x="4645152" y="1463040"/>
            <a:ext cx="1956816" cy="2560320"/>
          </a:xfrm>
          <a:prstGeom prst="roundRect">
            <a:avLst>
              <a:gd name="adj" fmla="val 3738"/>
            </a:avLst>
          </a:prstGeom>
          <a:solidFill>
            <a:schemeClr val="bg2"/>
          </a:solidFill>
        </p:spPr>
      </p:sp>
      <p:sp>
        <p:nvSpPr>
          <p:cNvPr id="15" name="Icon circle"/>
          <p:cNvSpPr/>
          <p:nvPr/>
        </p:nvSpPr>
        <p:spPr>
          <a:xfrm>
            <a:off x="4782312" y="1600200"/>
            <a:ext cx="457200" cy="457200"/>
          </a:xfrm>
          <a:prstGeom prst="ellipse">
            <a:avLst/>
          </a:prstGeom>
          <a:solidFill>
            <a:schemeClr val="accent4"/>
          </a:solidFill>
        </p:spPr>
      </p:sp>
      <p:pic>
        <p:nvPicPr>
          <p:cNvPr id="16" name="Image 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17145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82312" y="21488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Allocation and constraints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82312" y="2697480"/>
            <a:ext cx="1691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Matching and max-flow assign faculty and rooms. SAT and vertex cover handle exam clashes.</a:t>
            </a:r>
            <a:endParaRPr lang="en-US" sz="1400" dirty="0"/>
          </a:p>
        </p:txBody>
      </p:sp>
      <p:sp>
        <p:nvSpPr>
          <p:cNvPr id="19" name="Solution card 4"/>
          <p:cNvSpPr/>
          <p:nvPr/>
        </p:nvSpPr>
        <p:spPr>
          <a:xfrm>
            <a:off x="6739128" y="1463040"/>
            <a:ext cx="1956816" cy="2560320"/>
          </a:xfrm>
          <a:prstGeom prst="roundRect">
            <a:avLst>
              <a:gd name="adj" fmla="val 3738"/>
            </a:avLst>
          </a:prstGeom>
          <a:solidFill>
            <a:schemeClr val="bg2"/>
          </a:solidFill>
        </p:spPr>
      </p:sp>
      <p:sp>
        <p:nvSpPr>
          <p:cNvPr id="20" name="Icon circle"/>
          <p:cNvSpPr/>
          <p:nvPr/>
        </p:nvSpPr>
        <p:spPr>
          <a:xfrm>
            <a:off x="6876288" y="1600200"/>
            <a:ext cx="457200" cy="457200"/>
          </a:xfrm>
          <a:prstGeom prst="ellipse">
            <a:avLst/>
          </a:prstGeom>
          <a:solidFill>
            <a:schemeClr val="accent5"/>
          </a:solidFill>
        </p:spPr>
      </p:sp>
      <p:pic>
        <p:nvPicPr>
          <p:cNvPr id="21" name="Image 3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588" y="17145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76288" y="2148840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Large-scale analytics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76288" y="2697480"/>
            <a:ext cx="1691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Randomized, streaming and parallel algorithms rank and summarise activity data.</a:t>
            </a:r>
            <a:endParaRPr lang="en-US" sz="1400" dirty="0"/>
          </a:p>
        </p:txBody>
      </p:sp>
      <p:sp>
        <p:nvSpPr>
          <p:cNvPr id="24" name="Banner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</p:spPr>
      </p:sp>
      <p:sp>
        <p:nvSpPr>
          <p:cNvPr id="25" name="Banner text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Plus: dynamic programming to optimize processing and organize frequently used academic keys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Project Objectives</a:t>
            </a:r>
            <a:endParaRPr lang="en-US" sz="32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143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4" name="Badge M1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chemeClr val="accent1"/>
          </a:solidFill>
        </p:spPr>
        <p:txBody>
          <a:bodyPr/>
          <a:p>
            <a:r>
              <a:rPr lang="en-US"/>
              <a:t>1</a:t>
            </a:r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courses, queries and keywords fast </a:t>
            </a:r>
            <a:endParaRPr lang="en-US" sz="1400" dirty="0"/>
          </a:p>
        </p:txBody>
      </p:sp>
      <p:sp>
        <p:nvSpPr>
          <p:cNvPr id="7" name="Objective card 2"/>
          <p:cNvSpPr/>
          <p:nvPr/>
        </p:nvSpPr>
        <p:spPr>
          <a:xfrm>
            <a:off x="4663440" y="1143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8" name="Badge M2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chemeClr val="accent2"/>
          </a:solidFill>
        </p:spPr>
        <p:txBody>
          <a:bodyPr/>
          <a:p>
            <a:r>
              <a:rPr lang="en-US"/>
              <a:t>2</a:t>
            </a:r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349240" y="1234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Index academic documents </a:t>
            </a:r>
            <a:endParaRPr lang="en-US" sz="1400" dirty="0"/>
          </a:p>
        </p:txBody>
      </p:sp>
      <p:sp>
        <p:nvSpPr>
          <p:cNvPr id="11" name="Objective card 3"/>
          <p:cNvSpPr/>
          <p:nvPr/>
        </p:nvSpPr>
        <p:spPr>
          <a:xfrm>
            <a:off x="457200" y="2286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12" name="Badge M3"/>
          <p:cNvSpPr/>
          <p:nvPr/>
        </p:nvSpPr>
        <p:spPr>
          <a:xfrm>
            <a:off x="594360" y="2587752"/>
            <a:ext cx="420624" cy="420624"/>
          </a:xfrm>
          <a:prstGeom prst="ellipse">
            <a:avLst/>
          </a:prstGeom>
          <a:solidFill>
            <a:schemeClr val="accent3"/>
          </a:solidFill>
        </p:spPr>
        <p:txBody>
          <a:bodyPr/>
          <a:p>
            <a:r>
              <a:rPr lang="en-US"/>
              <a:t>3</a:t>
            </a:r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143000" y="2377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Correct queries and optimize processing</a:t>
            </a:r>
            <a:endParaRPr lang="en-US" sz="1400" dirty="0"/>
          </a:p>
        </p:txBody>
      </p:sp>
      <p:sp>
        <p:nvSpPr>
          <p:cNvPr id="15" name="Objective card 4"/>
          <p:cNvSpPr/>
          <p:nvPr/>
        </p:nvSpPr>
        <p:spPr>
          <a:xfrm>
            <a:off x="4663440" y="2286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16" name="Badge M4"/>
          <p:cNvSpPr/>
          <p:nvPr/>
        </p:nvSpPr>
        <p:spPr>
          <a:xfrm>
            <a:off x="4800600" y="2587752"/>
            <a:ext cx="420624" cy="420624"/>
          </a:xfrm>
          <a:prstGeom prst="ellipse">
            <a:avLst/>
          </a:prstGeom>
          <a:solidFill>
            <a:schemeClr val="accent4"/>
          </a:solidFill>
        </p:spPr>
        <p:txBody>
          <a:bodyPr/>
          <a:p>
            <a:r>
              <a:rPr lang="en-US"/>
              <a:t>4</a:t>
            </a:r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349240" y="2377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Allocate faculty, classrooms and resources</a:t>
            </a:r>
            <a:endParaRPr lang="en-US" sz="1400" dirty="0"/>
          </a:p>
        </p:txBody>
      </p:sp>
      <p:sp>
        <p:nvSpPr>
          <p:cNvPr id="19" name="Objective card 5"/>
          <p:cNvSpPr/>
          <p:nvPr/>
        </p:nvSpPr>
        <p:spPr>
          <a:xfrm>
            <a:off x="457200" y="3429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20" name="Badge M5"/>
          <p:cNvSpPr/>
          <p:nvPr/>
        </p:nvSpPr>
        <p:spPr>
          <a:xfrm>
            <a:off x="594360" y="3730752"/>
            <a:ext cx="420624" cy="420624"/>
          </a:xfrm>
          <a:prstGeom prst="ellipse">
            <a:avLst/>
          </a:prstGeom>
          <a:solidFill>
            <a:schemeClr val="accent5"/>
          </a:solidFill>
        </p:spPr>
        <p:txBody>
          <a:bodyPr/>
          <a:p>
            <a:r>
              <a:rPr lang="en-US"/>
              <a:t>5</a:t>
            </a:r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143000" y="3520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Model exam and scheduling</a:t>
            </a:r>
            <a:endParaRPr lang="en-US" sz="1400" dirty="0"/>
          </a:p>
        </p:txBody>
      </p:sp>
      <p:sp>
        <p:nvSpPr>
          <p:cNvPr id="23" name="Objective card 6"/>
          <p:cNvSpPr/>
          <p:nvPr/>
        </p:nvSpPr>
        <p:spPr>
          <a:xfrm>
            <a:off x="4663440" y="3429000"/>
            <a:ext cx="4023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</p:spPr>
      </p:sp>
      <p:sp>
        <p:nvSpPr>
          <p:cNvPr id="24" name="Badge M6"/>
          <p:cNvSpPr/>
          <p:nvPr/>
        </p:nvSpPr>
        <p:spPr>
          <a:xfrm>
            <a:off x="4800600" y="3730752"/>
            <a:ext cx="420624" cy="420624"/>
          </a:xfrm>
          <a:prstGeom prst="ellipse">
            <a:avLst/>
          </a:prstGeom>
          <a:solidFill>
            <a:schemeClr val="accent6"/>
          </a:solidFill>
        </p:spPr>
        <p:txBody>
          <a:bodyPr/>
          <a:p>
            <a:r>
              <a:rPr lang="en-US"/>
              <a:t>6</a:t>
            </a:r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349240" y="3520440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Rank and summarise large student-activity data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Layer Users"/>
          <p:cNvSpPr/>
          <p:nvPr/>
        </p:nvSpPr>
        <p:spPr>
          <a:xfrm>
            <a:off x="457200" y="1097280"/>
            <a:ext cx="5120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Users</a:t>
            </a:r>
            <a:endParaRPr lang="en-US" sz="1200" dirty="0"/>
          </a:p>
        </p:txBody>
      </p:sp>
      <p:sp>
        <p:nvSpPr>
          <p:cNvPr id="5" name="Box Students"/>
          <p:cNvSpPr/>
          <p:nvPr/>
        </p:nvSpPr>
        <p:spPr>
          <a:xfrm>
            <a:off x="594360" y="1426464"/>
            <a:ext cx="155448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264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Students</a:t>
            </a:r>
            <a:endParaRPr lang="en-US" sz="1100" dirty="0"/>
          </a:p>
        </p:txBody>
      </p:sp>
      <p:sp>
        <p:nvSpPr>
          <p:cNvPr id="7" name="Box Faculty"/>
          <p:cNvSpPr/>
          <p:nvPr/>
        </p:nvSpPr>
        <p:spPr>
          <a:xfrm>
            <a:off x="2240280" y="1426464"/>
            <a:ext cx="155448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4264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Faculty</a:t>
            </a:r>
            <a:endParaRPr lang="en-US" sz="1100" dirty="0"/>
          </a:p>
        </p:txBody>
      </p:sp>
      <p:sp>
        <p:nvSpPr>
          <p:cNvPr id="9" name="Box Admin"/>
          <p:cNvSpPr/>
          <p:nvPr/>
        </p:nvSpPr>
        <p:spPr>
          <a:xfrm>
            <a:off x="3886200" y="1426464"/>
            <a:ext cx="155448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426464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Admin</a:t>
            </a:r>
            <a:endParaRPr lang="en-US" sz="1100" dirty="0"/>
          </a:p>
        </p:txBody>
      </p:sp>
      <p:sp>
        <p:nvSpPr>
          <p:cNvPr id="11" name="Arrow 1"/>
          <p:cNvSpPr/>
          <p:nvPr/>
        </p:nvSpPr>
        <p:spPr>
          <a:xfrm>
            <a:off x="2926080" y="1847088"/>
            <a:ext cx="182880" cy="164592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12" name="Layer EduTrack services"/>
          <p:cNvSpPr/>
          <p:nvPr/>
        </p:nvSpPr>
        <p:spPr>
          <a:xfrm>
            <a:off x="457200" y="2029968"/>
            <a:ext cx="5120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</p:sp>
      <p:sp>
        <p:nvSpPr>
          <p:cNvPr id="13" name="Text 11"/>
          <p:cNvSpPr txBox="1"/>
          <p:nvPr/>
        </p:nvSpPr>
        <p:spPr>
          <a:xfrm>
            <a:off x="594360" y="2075688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EduTrack services</a:t>
            </a:r>
            <a:endParaRPr lang="en-US" sz="1200" dirty="0"/>
          </a:p>
        </p:txBody>
      </p:sp>
      <p:sp>
        <p:nvSpPr>
          <p:cNvPr id="14" name="Box Search"/>
          <p:cNvSpPr/>
          <p:nvPr/>
        </p:nvSpPr>
        <p:spPr>
          <a:xfrm>
            <a:off x="594360" y="2359152"/>
            <a:ext cx="896112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35915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Search</a:t>
            </a:r>
            <a:endParaRPr lang="en-US" sz="1100" dirty="0"/>
          </a:p>
        </p:txBody>
      </p:sp>
      <p:sp>
        <p:nvSpPr>
          <p:cNvPr id="16" name="Box Similarity"/>
          <p:cNvSpPr/>
          <p:nvPr/>
        </p:nvSpPr>
        <p:spPr>
          <a:xfrm>
            <a:off x="1581912" y="2359152"/>
            <a:ext cx="896112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81912" y="235915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Similarity</a:t>
            </a:r>
            <a:endParaRPr lang="en-US" sz="1100" dirty="0"/>
          </a:p>
        </p:txBody>
      </p:sp>
      <p:sp>
        <p:nvSpPr>
          <p:cNvPr id="18" name="Box Allocation"/>
          <p:cNvSpPr/>
          <p:nvPr/>
        </p:nvSpPr>
        <p:spPr>
          <a:xfrm>
            <a:off x="2569464" y="2359152"/>
            <a:ext cx="896112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9464" y="235915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Allocation</a:t>
            </a:r>
            <a:endParaRPr lang="en-US" sz="1100" dirty="0"/>
          </a:p>
        </p:txBody>
      </p:sp>
      <p:sp>
        <p:nvSpPr>
          <p:cNvPr id="20" name="Box Scheduling"/>
          <p:cNvSpPr/>
          <p:nvPr/>
        </p:nvSpPr>
        <p:spPr>
          <a:xfrm>
            <a:off x="3557016" y="2359152"/>
            <a:ext cx="896112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57016" y="235915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Scheduling</a:t>
            </a:r>
            <a:endParaRPr lang="en-US" sz="1100" dirty="0"/>
          </a:p>
        </p:txBody>
      </p:sp>
      <p:sp>
        <p:nvSpPr>
          <p:cNvPr id="22" name="Box Analytics"/>
          <p:cNvSpPr/>
          <p:nvPr/>
        </p:nvSpPr>
        <p:spPr>
          <a:xfrm>
            <a:off x="4544568" y="2359152"/>
            <a:ext cx="896112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44568" y="235915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Analytics</a:t>
            </a:r>
            <a:endParaRPr lang="en-US" sz="1100" dirty="0"/>
          </a:p>
        </p:txBody>
      </p:sp>
      <p:sp>
        <p:nvSpPr>
          <p:cNvPr id="24" name="Arrow 2"/>
          <p:cNvSpPr/>
          <p:nvPr/>
        </p:nvSpPr>
        <p:spPr>
          <a:xfrm>
            <a:off x="2926080" y="2779776"/>
            <a:ext cx="182880" cy="164592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26" name="Text 24"/>
          <p:cNvSpPr txBox="1"/>
          <p:nvPr/>
        </p:nvSpPr>
        <p:spPr>
          <a:xfrm>
            <a:off x="594360" y="3008376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9" name="Arrow 3"/>
          <p:cNvSpPr/>
          <p:nvPr/>
        </p:nvSpPr>
        <p:spPr>
          <a:xfrm>
            <a:off x="2926080" y="3712464"/>
            <a:ext cx="182880" cy="164592"/>
          </a:xfrm>
          <a:prstGeom prst="downArrow">
            <a:avLst/>
          </a:prstGeom>
          <a:solidFill>
            <a:schemeClr val="accent1"/>
          </a:solidFill>
        </p:spPr>
      </p:sp>
      <p:sp>
        <p:nvSpPr>
          <p:cNvPr id="40" name="Layer Academic data store"/>
          <p:cNvSpPr/>
          <p:nvPr/>
        </p:nvSpPr>
        <p:spPr>
          <a:xfrm>
            <a:off x="457200" y="3237484"/>
            <a:ext cx="51206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</p:spPr>
      </p:sp>
      <p:sp>
        <p:nvSpPr>
          <p:cNvPr id="41" name="Text 39"/>
          <p:cNvSpPr txBox="1"/>
          <p:nvPr/>
        </p:nvSpPr>
        <p:spPr>
          <a:xfrm>
            <a:off x="527050" y="3292094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Academic data store</a:t>
            </a:r>
            <a:endParaRPr lang="en-US" sz="1200" dirty="0"/>
          </a:p>
        </p:txBody>
      </p:sp>
      <p:sp>
        <p:nvSpPr>
          <p:cNvPr id="42" name="Box Records"/>
          <p:cNvSpPr/>
          <p:nvPr/>
        </p:nvSpPr>
        <p:spPr>
          <a:xfrm>
            <a:off x="594360" y="3639693"/>
            <a:ext cx="114300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4360" y="3639693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Records</a:t>
            </a:r>
            <a:endParaRPr lang="en-US" sz="1100" dirty="0"/>
          </a:p>
        </p:txBody>
      </p:sp>
      <p:sp>
        <p:nvSpPr>
          <p:cNvPr id="44" name="Box Documents"/>
          <p:cNvSpPr/>
          <p:nvPr/>
        </p:nvSpPr>
        <p:spPr>
          <a:xfrm>
            <a:off x="1920240" y="3548253"/>
            <a:ext cx="114300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828800" y="3520313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Documents</a:t>
            </a:r>
            <a:endParaRPr lang="en-US" sz="1100" dirty="0"/>
          </a:p>
        </p:txBody>
      </p:sp>
      <p:sp>
        <p:nvSpPr>
          <p:cNvPr id="46" name="Box Schedules"/>
          <p:cNvSpPr/>
          <p:nvPr/>
        </p:nvSpPr>
        <p:spPr>
          <a:xfrm>
            <a:off x="3154680" y="3639693"/>
            <a:ext cx="114300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41040" y="3639693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Schedules</a:t>
            </a:r>
            <a:endParaRPr lang="en-US" sz="1100" dirty="0"/>
          </a:p>
        </p:txBody>
      </p:sp>
      <p:sp>
        <p:nvSpPr>
          <p:cNvPr id="48" name="Box Activity"/>
          <p:cNvSpPr/>
          <p:nvPr/>
        </p:nvSpPr>
        <p:spPr>
          <a:xfrm>
            <a:off x="4297680" y="3639693"/>
            <a:ext cx="1143000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97680" y="3639693"/>
            <a:ext cx="1143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Activity</a:t>
            </a:r>
            <a:endParaRPr lang="en-US" sz="1100" dirty="0"/>
          </a:p>
        </p:txBody>
      </p:sp>
      <p:sp>
        <p:nvSpPr>
          <p:cNvPr id="50" name="Badge 1"/>
          <p:cNvSpPr/>
          <p:nvPr/>
        </p:nvSpPr>
        <p:spPr>
          <a:xfrm>
            <a:off x="5852160" y="1097280"/>
            <a:ext cx="329184" cy="32918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1" name="Badge label 1"/>
          <p:cNvSpPr txBox="1"/>
          <p:nvPr/>
        </p:nvSpPr>
        <p:spPr>
          <a:xfrm>
            <a:off x="5852160" y="10972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309360" y="1078992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Students, faculty and admins send requests.</a:t>
            </a:r>
            <a:endParaRPr lang="en-US" sz="1400" dirty="0"/>
          </a:p>
        </p:txBody>
      </p:sp>
      <p:sp>
        <p:nvSpPr>
          <p:cNvPr id="53" name="Badge 2"/>
          <p:cNvSpPr/>
          <p:nvPr/>
        </p:nvSpPr>
        <p:spPr>
          <a:xfrm>
            <a:off x="5852160" y="1773936"/>
            <a:ext cx="329184" cy="32918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4" name="Badge label 2"/>
          <p:cNvSpPr txBox="1"/>
          <p:nvPr/>
        </p:nvSpPr>
        <p:spPr>
          <a:xfrm>
            <a:off x="5852160" y="17739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309360" y="175564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service picks the task to run.</a:t>
            </a:r>
            <a:endParaRPr lang="en-US" sz="1400" dirty="0"/>
          </a:p>
        </p:txBody>
      </p:sp>
      <p:sp>
        <p:nvSpPr>
          <p:cNvPr id="56" name="Badge 3"/>
          <p:cNvSpPr/>
          <p:nvPr/>
        </p:nvSpPr>
        <p:spPr>
          <a:xfrm>
            <a:off x="5852160" y="2450592"/>
            <a:ext cx="329184" cy="32918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7" name="Badge label 3"/>
          <p:cNvSpPr txBox="1"/>
          <p:nvPr/>
        </p:nvSpPr>
        <p:spPr>
          <a:xfrm>
            <a:off x="5852160" y="24505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6309360" y="2432304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engine runs the right module.</a:t>
            </a:r>
            <a:endParaRPr lang="en-US" sz="1400" dirty="0"/>
          </a:p>
        </p:txBody>
      </p:sp>
      <p:sp>
        <p:nvSpPr>
          <p:cNvPr id="59" name="Badge 4"/>
          <p:cNvSpPr/>
          <p:nvPr/>
        </p:nvSpPr>
        <p:spPr>
          <a:xfrm>
            <a:off x="5852160" y="3127248"/>
            <a:ext cx="329184" cy="32918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0" name="Badge label 4"/>
          <p:cNvSpPr txBox="1"/>
          <p:nvPr/>
        </p:nvSpPr>
        <p:spPr>
          <a:xfrm>
            <a:off x="5852160" y="3127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309360" y="310896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Modules read records, documents and activity data.</a:t>
            </a:r>
            <a:endParaRPr lang="en-US" sz="1400" dirty="0"/>
          </a:p>
        </p:txBody>
      </p:sp>
      <p:sp>
        <p:nvSpPr>
          <p:cNvPr id="62" name="Badge 5"/>
          <p:cNvSpPr/>
          <p:nvPr/>
        </p:nvSpPr>
        <p:spPr>
          <a:xfrm>
            <a:off x="5852160" y="3803904"/>
            <a:ext cx="329184" cy="32918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3" name="Badge label 5"/>
          <p:cNvSpPr txBox="1"/>
          <p:nvPr/>
        </p:nvSpPr>
        <p:spPr>
          <a:xfrm>
            <a:off x="5852160" y="38039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309360" y="3785616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Answers, plans and reports go back to users.</a:t>
            </a:r>
            <a:endParaRPr lang="en-US" sz="14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Working of EduTrack: Step by Step</a:t>
            </a:r>
            <a:endParaRPr lang="en-US" sz="3200" dirty="0"/>
          </a:p>
        </p:txBody>
      </p:sp>
      <p:sp>
        <p:nvSpPr>
          <p:cNvPr id="3" name="Badge 1"/>
          <p:cNvSpPr/>
          <p:nvPr/>
        </p:nvSpPr>
        <p:spPr>
          <a:xfrm>
            <a:off x="457200" y="1124712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4" name="Badge label 1"/>
          <p:cNvSpPr txBox="1"/>
          <p:nvPr/>
        </p:nvSpPr>
        <p:spPr>
          <a:xfrm>
            <a:off x="457200" y="11247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97280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Load student and faculty records, documents, schedules and the activity stream into the data store.</a:t>
            </a:r>
            <a:endParaRPr lang="en-US" sz="1500" dirty="0"/>
          </a:p>
        </p:txBody>
      </p:sp>
      <p:sp>
        <p:nvSpPr>
          <p:cNvPr id="6" name="Badge 2"/>
          <p:cNvSpPr/>
          <p:nvPr/>
        </p:nvSpPr>
        <p:spPr>
          <a:xfrm>
            <a:off x="457200" y="1700784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7" name="Badge label 2"/>
          <p:cNvSpPr txBox="1"/>
          <p:nvPr/>
        </p:nvSpPr>
        <p:spPr>
          <a:xfrm>
            <a:off x="457200" y="17007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73352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query arrives. M1 string search and M3 edit distance find matches, even with typos.</a:t>
            </a:r>
            <a:endParaRPr lang="en-US" sz="1500" dirty="0"/>
          </a:p>
        </p:txBody>
      </p:sp>
      <p:sp>
        <p:nvSpPr>
          <p:cNvPr id="9" name="Badge 3"/>
          <p:cNvSpPr/>
          <p:nvPr/>
        </p:nvSpPr>
        <p:spPr>
          <a:xfrm>
            <a:off x="457200" y="2276856"/>
            <a:ext cx="384048" cy="384048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10" name="Badge label 3"/>
          <p:cNvSpPr txBox="1"/>
          <p:nvPr/>
        </p:nvSpPr>
        <p:spPr>
          <a:xfrm>
            <a:off x="457200" y="2276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249424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Documents are indexed with M2 suffix structures, so repeated phrases across assignments are flagged.</a:t>
            </a:r>
            <a:endParaRPr lang="en-US" sz="1500" dirty="0"/>
          </a:p>
        </p:txBody>
      </p:sp>
      <p:sp>
        <p:nvSpPr>
          <p:cNvPr id="12" name="Badge 4"/>
          <p:cNvSpPr/>
          <p:nvPr/>
        </p:nvSpPr>
        <p:spPr>
          <a:xfrm>
            <a:off x="457200" y="285292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sp>
        <p:nvSpPr>
          <p:cNvPr id="13" name="Badge label 4"/>
          <p:cNvSpPr txBox="1"/>
          <p:nvPr/>
        </p:nvSpPr>
        <p:spPr>
          <a:xfrm>
            <a:off x="457200" y="2852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25496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M4 matching and max-flow assign faculty to eligible courses and rooms to classes.</a:t>
            </a:r>
            <a:endParaRPr lang="en-US" sz="1500" dirty="0"/>
          </a:p>
        </p:txBody>
      </p:sp>
      <p:sp>
        <p:nvSpPr>
          <p:cNvPr id="15" name="Badge 5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16" name="Badge label 5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401568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M5 turns exam clashes into SAT and vertex-cover problems and finds a conflict-free plan.</a:t>
            </a:r>
            <a:endParaRPr lang="en-US" sz="1500" dirty="0"/>
          </a:p>
        </p:txBody>
      </p:sp>
      <p:sp>
        <p:nvSpPr>
          <p:cNvPr id="18" name="Badge 6"/>
          <p:cNvSpPr/>
          <p:nvPr/>
        </p:nvSpPr>
        <p:spPr>
          <a:xfrm>
            <a:off x="457200" y="4005072"/>
            <a:ext cx="384048" cy="384048"/>
          </a:xfrm>
          <a:prstGeom prst="ellipse">
            <a:avLst/>
          </a:prstGeom>
          <a:solidFill>
            <a:schemeClr val="accent6"/>
          </a:solidFill>
        </p:spPr>
      </p:sp>
      <p:sp>
        <p:nvSpPr>
          <p:cNvPr id="19" name="Badge label 6"/>
          <p:cNvSpPr txBox="1"/>
          <p:nvPr/>
        </p:nvSpPr>
        <p:spPr>
          <a:xfrm>
            <a:off x="457200" y="40050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977640"/>
            <a:ext cx="7635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M6 ranks records and aggregates streaming student data in parallel for reports.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DSA Concepts Used</a:t>
            </a:r>
            <a:endParaRPr lang="en-US" sz="3200" dirty="0"/>
          </a:p>
        </p:txBody>
      </p:sp>
      <p:sp>
        <p:nvSpPr>
          <p:cNvPr id="3" name="CO card 1"/>
          <p:cNvSpPr/>
          <p:nvPr/>
        </p:nvSpPr>
        <p:spPr>
          <a:xfrm>
            <a:off x="45720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4" name="Badge M1"/>
          <p:cNvSpPr/>
          <p:nvPr/>
        </p:nvSpPr>
        <p:spPr>
          <a:xfrm>
            <a:off x="594360" y="1207008"/>
            <a:ext cx="365760" cy="36576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Badge label M1"/>
          <p:cNvSpPr txBox="1"/>
          <p:nvPr/>
        </p:nvSpPr>
        <p:spPr>
          <a:xfrm>
            <a:off x="59436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070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String Algorithms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KMP, Z-Function, Rabin-Karp, Aho-Corasick</a:t>
            </a:r>
            <a:endParaRPr lang="en-US" sz="1400" dirty="0"/>
          </a:p>
        </p:txBody>
      </p:sp>
      <p:sp>
        <p:nvSpPr>
          <p:cNvPr id="9" name="CO card 2"/>
          <p:cNvSpPr/>
          <p:nvPr/>
        </p:nvSpPr>
        <p:spPr>
          <a:xfrm>
            <a:off x="324612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10" name="Badge M2"/>
          <p:cNvSpPr/>
          <p:nvPr/>
        </p:nvSpPr>
        <p:spPr>
          <a:xfrm>
            <a:off x="3383280" y="1207008"/>
            <a:ext cx="365760" cy="36576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1" name="Badge label M2"/>
          <p:cNvSpPr txBox="1"/>
          <p:nvPr/>
        </p:nvSpPr>
        <p:spPr>
          <a:xfrm>
            <a:off x="338328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2070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Suffix Structures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87452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Suffix Arrays, SA-IS, LCP/Kasai, Suffix Trees and Automata</a:t>
            </a:r>
            <a:endParaRPr lang="en-US" sz="1400" dirty="0"/>
          </a:p>
        </p:txBody>
      </p:sp>
      <p:sp>
        <p:nvSpPr>
          <p:cNvPr id="15" name="CO card 3"/>
          <p:cNvSpPr/>
          <p:nvPr/>
        </p:nvSpPr>
        <p:spPr>
          <a:xfrm>
            <a:off x="6035040" y="109728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16" name="Badge M3"/>
          <p:cNvSpPr/>
          <p:nvPr/>
        </p:nvSpPr>
        <p:spPr>
          <a:xfrm>
            <a:off x="6172200" y="1207008"/>
            <a:ext cx="365760" cy="365760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17" name="Badge label M3"/>
          <p:cNvSpPr txBox="1"/>
          <p:nvPr/>
        </p:nvSpPr>
        <p:spPr>
          <a:xfrm>
            <a:off x="6172200" y="12070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20700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CO3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00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Advanced DP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187452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Levenshtein, Damerau-Levenshtein, Matrix-Chain, Bitmask DP, Optimal BST</a:t>
            </a:r>
            <a:endParaRPr lang="en-US" sz="1400" dirty="0"/>
          </a:p>
        </p:txBody>
      </p:sp>
      <p:sp>
        <p:nvSpPr>
          <p:cNvPr id="21" name="CO card 4"/>
          <p:cNvSpPr/>
          <p:nvPr/>
        </p:nvSpPr>
        <p:spPr>
          <a:xfrm>
            <a:off x="457200" y="288036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22" name="Badge M4"/>
          <p:cNvSpPr/>
          <p:nvPr/>
        </p:nvSpPr>
        <p:spPr>
          <a:xfrm>
            <a:off x="594360" y="2990088"/>
            <a:ext cx="365760" cy="365760"/>
          </a:xfrm>
          <a:prstGeom prst="ellipse">
            <a:avLst/>
          </a:prstGeom>
          <a:solidFill>
            <a:schemeClr val="accent4"/>
          </a:solidFill>
        </p:spPr>
      </p:sp>
      <p:sp>
        <p:nvSpPr>
          <p:cNvPr id="23" name="Badge label M4"/>
          <p:cNvSpPr txBox="1"/>
          <p:nvPr/>
        </p:nvSpPr>
        <p:spPr>
          <a:xfrm>
            <a:off x="59436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29900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CO4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Network Flow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6576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Bipartite Matching, Ford-Fulkerson, Edmonds-Karp, Dinic, König's theorem</a:t>
            </a:r>
            <a:endParaRPr lang="en-US" sz="1400" dirty="0"/>
          </a:p>
        </p:txBody>
      </p:sp>
      <p:sp>
        <p:nvSpPr>
          <p:cNvPr id="27" name="CO card 5"/>
          <p:cNvSpPr/>
          <p:nvPr/>
        </p:nvSpPr>
        <p:spPr>
          <a:xfrm>
            <a:off x="3246120" y="288036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28" name="Badge M5"/>
          <p:cNvSpPr/>
          <p:nvPr/>
        </p:nvSpPr>
        <p:spPr>
          <a:xfrm>
            <a:off x="3383280" y="2990088"/>
            <a:ext cx="365760" cy="365760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29" name="Badge label M5"/>
          <p:cNvSpPr txBox="1"/>
          <p:nvPr/>
        </p:nvSpPr>
        <p:spPr>
          <a:xfrm>
            <a:off x="338328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29900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383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NP-Completeness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36576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SAT, 3-SAT to CLIQUE, CLIQUE to VERTEX-COVER, 2-approximation</a:t>
            </a:r>
            <a:endParaRPr lang="en-US" sz="1400" dirty="0"/>
          </a:p>
        </p:txBody>
      </p:sp>
      <p:sp>
        <p:nvSpPr>
          <p:cNvPr id="33" name="CO card 6"/>
          <p:cNvSpPr/>
          <p:nvPr/>
        </p:nvSpPr>
        <p:spPr>
          <a:xfrm>
            <a:off x="6035040" y="2880360"/>
            <a:ext cx="2651760" cy="1664208"/>
          </a:xfrm>
          <a:prstGeom prst="roundRect">
            <a:avLst>
              <a:gd name="adj" fmla="val 4396"/>
            </a:avLst>
          </a:prstGeom>
          <a:solidFill>
            <a:schemeClr val="bg2"/>
          </a:solidFill>
        </p:spPr>
      </p:sp>
      <p:sp>
        <p:nvSpPr>
          <p:cNvPr id="34" name="Badge M6"/>
          <p:cNvSpPr/>
          <p:nvPr/>
        </p:nvSpPr>
        <p:spPr>
          <a:xfrm>
            <a:off x="6172200" y="2990088"/>
            <a:ext cx="365760" cy="365760"/>
          </a:xfrm>
          <a:prstGeom prst="ellipse">
            <a:avLst/>
          </a:prstGeom>
          <a:solidFill>
            <a:schemeClr val="accent6"/>
          </a:solidFill>
        </p:spPr>
      </p:sp>
      <p:sp>
        <p:nvSpPr>
          <p:cNvPr id="35" name="Badge label M6"/>
          <p:cNvSpPr txBox="1"/>
          <p:nvPr/>
        </p:nvSpPr>
        <p:spPr>
          <a:xfrm>
            <a:off x="6172200" y="2990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29900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CO6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172200" y="3383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Randomized and Parallel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3657600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Randomized QuickSort, Reservoir Sampling, Miller-Rabin, Blelloch Scan, Parallel Reduce, Brent's theorem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Each DSA Fits: 1 of 3</a:t>
            </a:r>
            <a:endParaRPr lang="en-US" sz="3200" dirty="0"/>
          </a:p>
        </p:txBody>
      </p:sp>
      <p:sp>
        <p:nvSpPr>
          <p:cNvPr id="3" name="Module card M1 · Strings (CO1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4" name="Badge M1"/>
          <p:cNvSpPr/>
          <p:nvPr/>
        </p:nvSpPr>
        <p:spPr>
          <a:xfrm>
            <a:off x="594360" y="1207008"/>
            <a:ext cx="384048" cy="38404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5" name="Badge label M1"/>
          <p:cNvSpPr txBox="1"/>
          <p:nvPr/>
        </p:nvSpPr>
        <p:spPr>
          <a:xfrm>
            <a:off x="59436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Strings (CO1)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KMP</a:t>
            </a:r>
            <a:r>
              <a:rPr lang="en-US" sz="1500" dirty="0">
                <a:solidFill>
                  <a:schemeClr val="tx1"/>
                </a:solidFill>
              </a:rPr>
              <a:t>: search course names, queries, keywords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Z-Function</a:t>
            </a:r>
            <a:r>
              <a:rPr lang="en-US" sz="1500" dirty="0">
                <a:solidFill>
                  <a:schemeClr val="tx1"/>
                </a:solidFill>
              </a:rPr>
              <a:t>: detect repeated phrases in assignments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Rabin-Karp</a:t>
            </a:r>
            <a:r>
              <a:rPr lang="en-US" sz="1500" dirty="0">
                <a:solidFill>
                  <a:schemeClr val="tx1"/>
                </a:solidFill>
              </a:rPr>
              <a:t>: search assignment and course codes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Aho-Corasick</a:t>
            </a:r>
            <a:r>
              <a:rPr lang="en-US" sz="1500" dirty="0">
                <a:solidFill>
                  <a:schemeClr val="tx1"/>
                </a:solidFill>
              </a:rPr>
              <a:t>: match many keywords at once</a:t>
            </a:r>
            <a:endParaRPr lang="en-US" sz="1500" dirty="0"/>
          </a:p>
        </p:txBody>
      </p:sp>
      <p:sp>
        <p:nvSpPr>
          <p:cNvPr id="8" name="Module card M2 · Suffix Structures (CO2)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9" name="Badge M2"/>
          <p:cNvSpPr/>
          <p:nvPr/>
        </p:nvSpPr>
        <p:spPr>
          <a:xfrm>
            <a:off x="4800600" y="1207008"/>
            <a:ext cx="384048" cy="384048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0" name="Badge label M2"/>
          <p:cNvSpPr txBox="1"/>
          <p:nvPr/>
        </p:nvSpPr>
        <p:spPr>
          <a:xfrm>
            <a:off x="480060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Suffix Structures (CO2)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Suffix Arrays</a:t>
            </a:r>
            <a:r>
              <a:rPr lang="en-US" sz="1500" dirty="0">
                <a:solidFill>
                  <a:schemeClr val="tx1"/>
                </a:solidFill>
              </a:rPr>
              <a:t>: index textbooks, notes, documents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SA-IS</a:t>
            </a:r>
            <a:r>
              <a:rPr lang="en-US" sz="1500" dirty="0">
                <a:solidFill>
                  <a:schemeClr val="tx1"/>
                </a:solidFill>
              </a:rPr>
              <a:t>: index large documents efficiently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LCP / Kasai</a:t>
            </a:r>
            <a:r>
              <a:rPr lang="en-US" sz="1500" dirty="0">
                <a:solidFill>
                  <a:schemeClr val="tx1"/>
                </a:solidFill>
              </a:rPr>
              <a:t>: find repeated phrases across assignments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Suffix Trees / Automata</a:t>
            </a:r>
            <a:r>
              <a:rPr lang="en-US" sz="1500" dirty="0">
                <a:solidFill>
                  <a:schemeClr val="tx1"/>
                </a:solidFill>
              </a:rPr>
              <a:t>: substring queries on documents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Each DSA Fits: 2 of 3</a:t>
            </a:r>
            <a:endParaRPr lang="en-US" sz="3200" dirty="0"/>
          </a:p>
        </p:txBody>
      </p:sp>
      <p:sp>
        <p:nvSpPr>
          <p:cNvPr id="3" name="Module card M3 · Advanced DP (CO3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4" name="Badge M3"/>
          <p:cNvSpPr/>
          <p:nvPr/>
        </p:nvSpPr>
        <p:spPr>
          <a:xfrm>
            <a:off x="594360" y="1207008"/>
            <a:ext cx="384048" cy="384048"/>
          </a:xfrm>
          <a:prstGeom prst="ellipse">
            <a:avLst/>
          </a:prstGeom>
          <a:solidFill>
            <a:schemeClr val="accent3"/>
          </a:solidFill>
        </p:spPr>
      </p:sp>
      <p:sp>
        <p:nvSpPr>
          <p:cNvPr id="5" name="Badge label M3"/>
          <p:cNvSpPr txBox="1"/>
          <p:nvPr/>
        </p:nvSpPr>
        <p:spPr>
          <a:xfrm>
            <a:off x="59436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Advanced DP (CO3)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Levenshtein</a:t>
            </a:r>
            <a:r>
              <a:rPr lang="en-US" sz="1500" dirty="0">
                <a:solidFill>
                  <a:schemeClr val="tx1"/>
                </a:solidFill>
              </a:rPr>
              <a:t>: correct student search queries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Damerau-Levenshtein</a:t>
            </a:r>
            <a:r>
              <a:rPr lang="en-US" sz="1500" dirty="0">
                <a:solidFill>
                  <a:schemeClr val="tx1"/>
                </a:solidFill>
              </a:rPr>
              <a:t>: handle swapped characters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Matrix-Chain</a:t>
            </a:r>
            <a:r>
              <a:rPr lang="en-US" sz="1500" dirty="0">
                <a:solidFill>
                  <a:schemeClr val="tx1"/>
                </a:solidFill>
              </a:rPr>
              <a:t>: optimize data-processing order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Bitmask DP</a:t>
            </a:r>
            <a:r>
              <a:rPr lang="en-US" sz="1500" dirty="0">
                <a:solidFill>
                  <a:schemeClr val="tx1"/>
                </a:solidFill>
              </a:rPr>
              <a:t>: explore course and resource combinations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Optimal BST</a:t>
            </a:r>
            <a:r>
              <a:rPr lang="en-US" sz="1500" dirty="0">
                <a:solidFill>
                  <a:schemeClr val="tx1"/>
                </a:solidFill>
              </a:rPr>
              <a:t>: organize frequently used keys</a:t>
            </a:r>
            <a:endParaRPr lang="en-US" sz="1500" dirty="0"/>
          </a:p>
        </p:txBody>
      </p:sp>
      <p:sp>
        <p:nvSpPr>
          <p:cNvPr id="8" name="Module card M4 · Network Flow (CO4)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9" name="Badge M4"/>
          <p:cNvSpPr/>
          <p:nvPr/>
        </p:nvSpPr>
        <p:spPr>
          <a:xfrm>
            <a:off x="4800600" y="1207008"/>
            <a:ext cx="384048" cy="384048"/>
          </a:xfrm>
          <a:prstGeom prst="ellipse">
            <a:avLst/>
          </a:prstGeom>
          <a:solidFill>
            <a:schemeClr val="accent4"/>
          </a:solidFill>
        </p:spPr>
      </p:sp>
      <p:sp>
        <p:nvSpPr>
          <p:cNvPr id="10" name="Badge label M4"/>
          <p:cNvSpPr txBox="1"/>
          <p:nvPr/>
        </p:nvSpPr>
        <p:spPr>
          <a:xfrm>
            <a:off x="480060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Network Flow (CO4)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Bipartite Matching</a:t>
            </a:r>
            <a:r>
              <a:rPr lang="en-US" sz="1500" dirty="0">
                <a:solidFill>
                  <a:schemeClr val="tx1"/>
                </a:solidFill>
              </a:rPr>
              <a:t>: assign faculty to eligible courses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Ford-Fulkerson</a:t>
            </a:r>
            <a:r>
              <a:rPr lang="en-US" sz="1500" dirty="0">
                <a:solidFill>
                  <a:schemeClr val="tx1"/>
                </a:solidFill>
              </a:rPr>
              <a:t>: classroom and resource allocation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Edmonds-Karp</a:t>
            </a:r>
            <a:r>
              <a:rPr lang="en-US" sz="1500" dirty="0">
                <a:solidFill>
                  <a:schemeClr val="tx1"/>
                </a:solidFill>
              </a:rPr>
              <a:t>: resource-flow problems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Dinic's</a:t>
            </a:r>
            <a:r>
              <a:rPr lang="en-US" sz="1500" dirty="0">
                <a:solidFill>
                  <a:schemeClr val="tx1"/>
                </a:solidFill>
              </a:rPr>
              <a:t>: larger allocation networks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König's theorem</a:t>
            </a:r>
            <a:r>
              <a:rPr lang="en-US" sz="1500" dirty="0">
                <a:solidFill>
                  <a:schemeClr val="tx1"/>
                </a:solidFill>
              </a:rPr>
              <a:t>: analyze faculty-course conflicts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Each DSA Fits: 3 of 3</a:t>
            </a:r>
            <a:endParaRPr lang="en-US" sz="3200" dirty="0"/>
          </a:p>
        </p:txBody>
      </p:sp>
      <p:sp>
        <p:nvSpPr>
          <p:cNvPr id="3" name="Module card M5 · NP-Completeness (CO5)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4" name="Badge M5"/>
          <p:cNvSpPr/>
          <p:nvPr/>
        </p:nvSpPr>
        <p:spPr>
          <a:xfrm>
            <a:off x="594360" y="1207008"/>
            <a:ext cx="384048" cy="384048"/>
          </a:xfrm>
          <a:prstGeom prst="ellipse">
            <a:avLst/>
          </a:prstGeom>
          <a:solidFill>
            <a:schemeClr val="accent5"/>
          </a:solidFill>
        </p:spPr>
      </p:sp>
      <p:sp>
        <p:nvSpPr>
          <p:cNvPr id="5" name="Badge label M5"/>
          <p:cNvSpPr txBox="1"/>
          <p:nvPr/>
        </p:nvSpPr>
        <p:spPr>
          <a:xfrm>
            <a:off x="59436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NP-Completeness (CO5)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SAT</a:t>
            </a:r>
            <a:r>
              <a:rPr lang="en-US" sz="1500" dirty="0">
                <a:solidFill>
                  <a:schemeClr val="tx1"/>
                </a:solidFill>
              </a:rPr>
              <a:t>: exam and scheduling constraints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3-SAT to CLIQUE</a:t>
            </a:r>
            <a:r>
              <a:rPr lang="en-US" sz="1500" dirty="0">
                <a:solidFill>
                  <a:schemeClr val="tx1"/>
                </a:solidFill>
              </a:rPr>
              <a:t>: academic constraint reduction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CLIQUE to IS to VC</a:t>
            </a:r>
            <a:r>
              <a:rPr lang="en-US" sz="1500" dirty="0">
                <a:solidFill>
                  <a:schemeClr val="tx1"/>
                </a:solidFill>
              </a:rPr>
              <a:t>: conflict analysis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5"/>
                </a:solidFill>
              </a:rPr>
              <a:t>Vertex-Cover 2-approx</a:t>
            </a:r>
            <a:r>
              <a:rPr lang="en-US" sz="1500" dirty="0">
                <a:solidFill>
                  <a:schemeClr val="tx1"/>
                </a:solidFill>
              </a:rPr>
              <a:t>: cover exam conflicts</a:t>
            </a:r>
            <a:endParaRPr lang="en-US" sz="1500" dirty="0"/>
          </a:p>
        </p:txBody>
      </p:sp>
      <p:sp>
        <p:nvSpPr>
          <p:cNvPr id="8" name="Module card M6 · Randomized and Parallel (CO6)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</p:spPr>
      </p:sp>
      <p:sp>
        <p:nvSpPr>
          <p:cNvPr id="9" name="Badge M6"/>
          <p:cNvSpPr/>
          <p:nvPr/>
        </p:nvSpPr>
        <p:spPr>
          <a:xfrm>
            <a:off x="4800600" y="1207008"/>
            <a:ext cx="384048" cy="384048"/>
          </a:xfrm>
          <a:prstGeom prst="ellipse">
            <a:avLst/>
          </a:prstGeom>
          <a:solidFill>
            <a:schemeClr val="accent6"/>
          </a:solidFill>
        </p:spPr>
      </p:sp>
      <p:sp>
        <p:nvSpPr>
          <p:cNvPr id="10" name="Badge label M6"/>
          <p:cNvSpPr txBox="1"/>
          <p:nvPr/>
        </p:nvSpPr>
        <p:spPr>
          <a:xfrm>
            <a:off x="4800600" y="12070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0700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Randomized and Parallel (CO6)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Randomized QuickSort</a:t>
            </a:r>
            <a:r>
              <a:rPr lang="en-US" sz="1500" dirty="0">
                <a:solidFill>
                  <a:schemeClr val="tx1"/>
                </a:solidFill>
              </a:rPr>
              <a:t>: rank academic records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Reservoir Sampling</a:t>
            </a:r>
            <a:r>
              <a:rPr lang="en-US" sz="1500" dirty="0">
                <a:solidFill>
                  <a:schemeClr val="tx1"/>
                </a:solidFill>
              </a:rPr>
              <a:t>: streaming activity data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Miller-Rabin</a:t>
            </a:r>
            <a:r>
              <a:rPr lang="en-US" sz="1500" dirty="0">
                <a:solidFill>
                  <a:schemeClr val="tx1"/>
                </a:solidFill>
              </a:rPr>
              <a:t>: large numerical computations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Blelloch Scan</a:t>
            </a:r>
            <a:r>
              <a:rPr lang="en-US" sz="1500" dirty="0">
                <a:solidFill>
                  <a:schemeClr val="tx1"/>
                </a:solidFill>
              </a:rPr>
              <a:t>: cumulative statistics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Parallel Reduce</a:t>
            </a:r>
            <a:r>
              <a:rPr lang="en-US" sz="1500" dirty="0">
                <a:solidFill>
                  <a:schemeClr val="tx1"/>
                </a:solidFill>
              </a:rPr>
              <a:t>: performance aggregation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Brent's theorem</a:t>
            </a:r>
            <a:r>
              <a:rPr lang="en-US" sz="1500" dirty="0">
                <a:solidFill>
                  <a:schemeClr val="tx1"/>
                </a:solidFill>
              </a:rPr>
              <a:t>: analyze parallel processing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Complexity at a Glance</a:t>
            </a:r>
            <a:endParaRPr lang="en-US" sz="3200" dirty="0"/>
          </a:p>
        </p:txBody>
      </p:sp>
      <p:graphicFrame>
        <p:nvGraphicFramePr>
          <p:cNvPr id="13" name="Complexity table"/>
          <p:cNvGraphicFramePr>
            <a:graphicFrameLocks noGrp="1"/>
          </p:cNvGraphicFramePr>
          <p:nvPr/>
        </p:nvGraphicFramePr>
        <p:xfrm>
          <a:off x="457200" y="1143000"/>
          <a:ext cx="8229600" cy="2944368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1828800"/>
                <a:gridCol w="283464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algorithm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 complexity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EduTrack use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M1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KMP (text n, pattern m)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+ m)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 course names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M2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Suffix array by SA-IS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Index documents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M3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Levenshtein distance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O(m · n)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Correct search queries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M4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Edmonds-Karp max-flow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O(V · E²)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Allocate rooms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M5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Vertex-Cover 2-approximation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O(V + E)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Cover exam conflicts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M6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Parallel reduce (Brent)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O(n / p + log n)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Aggregate performance</a:t>
                      </a:r>
                      <a:endParaRPr lang="en-US" sz="1400" dirty="0"/>
                    </a:p>
                  </a:txBody>
                  <a:tcPr marT="0" marB="0" anchor="ctr">
                    <a:lnL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5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alpha val="70000"/>
                  </a:schemeClr>
                </a:solidFill>
              </a:rPr>
              <a:t>n = input size, V = vertices, E = edges, p = processors. Textbook worst-case or standard bounds.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Limitations, Future Work, Conclusion</a:t>
            </a:r>
            <a:endParaRPr lang="en-US" sz="3200" dirty="0"/>
          </a:p>
        </p:txBody>
      </p:sp>
      <p:sp>
        <p:nvSpPr>
          <p:cNvPr id="3" name="Closing card Limitations"/>
          <p:cNvSpPr/>
          <p:nvPr/>
        </p:nvSpPr>
        <p:spPr>
          <a:xfrm>
            <a:off x="457200" y="10972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Limitations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3317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NP-complete tasks use approximation, not guaranteed optimal plans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Bitmask DP suits only small sets of courses or resources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Suffix structures need extra memory for large document sets</a:t>
            </a:r>
            <a:endParaRPr lang="en-US" sz="1500" dirty="0"/>
          </a:p>
        </p:txBody>
      </p:sp>
      <p:sp>
        <p:nvSpPr>
          <p:cNvPr id="6" name="Closing card Future work"/>
          <p:cNvSpPr/>
          <p:nvPr/>
        </p:nvSpPr>
        <p:spPr>
          <a:xfrm>
            <a:off x="3246120" y="10972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7" name="Text 5"/>
          <p:cNvSpPr txBox="1"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737360"/>
            <a:ext cx="23317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Benchmark on real university datasets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a web front end for students and faculty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analytics on distributed or multi-core hardware</a:t>
            </a:r>
            <a:endParaRPr lang="en-US" sz="1500" dirty="0"/>
          </a:p>
        </p:txBody>
      </p:sp>
      <p:sp>
        <p:nvSpPr>
          <p:cNvPr id="9" name="Closing card Conclusion"/>
          <p:cNvSpPr/>
          <p:nvPr/>
        </p:nvSpPr>
        <p:spPr>
          <a:xfrm>
            <a:off x="6035040" y="109728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bg2"/>
          </a:solidFill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37360"/>
            <a:ext cx="233172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28 algorithms mapped across six modules in one platform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six course outcomes (CO1 to CO6) covered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right algorithm per task: fast, scalable, correct</a:t>
            </a:r>
            <a:endParaRPr lang="en-US" sz="1500" dirty="0"/>
          </a:p>
        </p:txBody>
      </p:sp>
      <p:sp>
        <p:nvSpPr>
          <p:cNvPr id="12" name="Banner"/>
          <p:cNvSpPr/>
          <p:nvPr/>
        </p:nvSpPr>
        <p:spPr>
          <a:xfrm>
            <a:off x="457200" y="4160520"/>
            <a:ext cx="822960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</p:spPr>
      </p:sp>
      <p:sp>
        <p:nvSpPr>
          <p:cNvPr id="13" name="Banner text"/>
          <p:cNvSpPr txBox="1"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EduTrack: the right algorithm for every academic task, from search to scheduling to analytics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type="title" idx="101" hasCustomPrompt="1"/>
          </p:nvPr>
        </p:nvSpPr>
        <p:spPr>
          <a:xfrm>
            <a:off x="541655" y="128016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                      Thank You</a:t>
            </a:r>
            <a:endParaRPr lang="en-US" sz="4400" dirty="0"/>
          </a:p>
        </p:txBody>
      </p:sp>
      <p:sp>
        <p:nvSpPr>
          <p:cNvPr id="3" name="Text 1"/>
          <p:cNvSpPr/>
          <p:nvPr>
            <p:ph type="body" idx="102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Track">
  <a:themeElements>
    <a:clrScheme name="EduTrack">
      <a:dk1>
        <a:srgbClr val="222B3A"/>
      </a:dk1>
      <a:lt1>
        <a:srgbClr val="FFFFFF"/>
      </a:lt1>
      <a:dk2>
        <a:srgbClr val="4A1426"/>
      </a:dk2>
      <a:lt2>
        <a:srgbClr val="F8F1F3"/>
      </a:lt2>
      <a:accent1>
        <a:srgbClr val="8C2F4B"/>
      </a:accent1>
      <a:accent2>
        <a:srgbClr val="0F8B8D"/>
      </a:accent2>
      <a:accent3>
        <a:srgbClr val="B7791F"/>
      </a:accent3>
      <a:accent4>
        <a:srgbClr val="3F51B5"/>
      </a:accent4>
      <a:accent5>
        <a:srgbClr val="2E7D4F"/>
      </a:accent5>
      <a:accent6>
        <a:srgbClr val="D9622B"/>
      </a:accent6>
      <a:hlink>
        <a:srgbClr val="3F51B5"/>
      </a:hlink>
      <a:folHlink>
        <a:srgbClr val="8C2F4B"/>
      </a:folHlink>
    </a:clrScheme>
    <a:fontScheme name="Edu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uTrack">
  <a:themeElements>
    <a:clrScheme name="EduTrack">
      <a:dk1>
        <a:srgbClr val="222B3A"/>
      </a:dk1>
      <a:lt1>
        <a:srgbClr val="FFFFFF"/>
      </a:lt1>
      <a:dk2>
        <a:srgbClr val="4A1426"/>
      </a:dk2>
      <a:lt2>
        <a:srgbClr val="F8F1F3"/>
      </a:lt2>
      <a:accent1>
        <a:srgbClr val="8C2F4B"/>
      </a:accent1>
      <a:accent2>
        <a:srgbClr val="0F8B8D"/>
      </a:accent2>
      <a:accent3>
        <a:srgbClr val="B7791F"/>
      </a:accent3>
      <a:accent4>
        <a:srgbClr val="3F51B5"/>
      </a:accent4>
      <a:accent5>
        <a:srgbClr val="2E7D4F"/>
      </a:accent5>
      <a:accent6>
        <a:srgbClr val="D9622B"/>
      </a:accent6>
      <a:hlink>
        <a:srgbClr val="3F51B5"/>
      </a:hlink>
      <a:folHlink>
        <a:srgbClr val="8C2F4B"/>
      </a:folHlink>
    </a:clrScheme>
    <a:fontScheme name="Edu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6423</Words>
  <Application>WPS Presentation</Application>
  <PresentationFormat>On-screen Show (16:9)</PresentationFormat>
  <Paragraphs>402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Cambria</vt:lpstr>
      <vt:lpstr>Microsoft YaHei</vt:lpstr>
      <vt:lpstr>Arial Unicode MS</vt:lpstr>
      <vt:lpstr>EduTrack</vt:lpstr>
      <vt:lpstr>EduTrack: Intelligent University Academic Platform</vt:lpstr>
      <vt:lpstr>Introduction</vt:lpstr>
      <vt:lpstr>Problem Statement</vt:lpstr>
      <vt:lpstr>Our Solution: EduTrack</vt:lpstr>
      <vt:lpstr>Project Objectives</vt:lpstr>
      <vt:lpstr>System Architecture</vt:lpstr>
      <vt:lpstr>Working of EduTrack: Step by Step</vt:lpstr>
      <vt:lpstr>DSA Concepts Used (CO1 to CO6)</vt:lpstr>
      <vt:lpstr>Where Each DSA Fits: 1 of 3</vt:lpstr>
      <vt:lpstr>Where Each DSA Fits: 2 of 3</vt:lpstr>
      <vt:lpstr>Where Each DSA Fits: 3 of 3</vt:lpstr>
      <vt:lpstr>Complexity at a Glance</vt:lpstr>
      <vt:lpstr>Limitations, Future Work, Conclusion</vt:lpstr>
      <vt:lpstr>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EduTrack: Intelligent University Academic Platform</dc:title>
  <dc:creator>PptxGenJS</dc:creator>
  <dc:subject>PptxGenJS Presentation</dc:subject>
  <cp:lastModifiedBy>Ram Naresh</cp:lastModifiedBy>
  <cp:revision>2</cp:revision>
  <dcterms:created xsi:type="dcterms:W3CDTF">2026-10-15T11:37:00Z</dcterms:created>
  <dcterms:modified xsi:type="dcterms:W3CDTF">2026-10-16T03:19:15Z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43BB484CB92E47B3923CCD6B4443E1BE_12</vt:lpwstr>
  </property>
</Properties>
</file>